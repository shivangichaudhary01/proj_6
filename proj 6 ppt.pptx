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streamlit.io" TargetMode="External"/><Relationship Id="rId2" Type="http://schemas.openxmlformats.org/officeDocument/2006/relationships/hyperlink" Target="https://www.youtube.com/watch?v=DCZ3tsQIoGU" TargetMode="External"/><Relationship Id="rId3" Type="http://schemas.openxmlformats.org/officeDocument/2006/relationships/hyperlink" Target="https://www.youtube.com/watch?v=bK7I79BVTG0" TargetMode="External"/><Relationship Id="rId4" Type="http://schemas.openxmlformats.org/officeDocument/2006/relationships/hyperlink" Target="https://matplotlib.org/stable/plot_types/index.html" TargetMode="External"/><Relationship Id="rId5" Type="http://schemas.openxmlformats.org/officeDocument/2006/relationships/hyperlink" Target="https://scikit-learn.org/stable/modules/generated/sklearn.model_selection.train_test_split.html" TargetMode="External"/><Relationship Id="rId6" Type="http://schemas.openxmlformats.org/officeDocument/2006/relationships/slideLayout" Target="../slideLayouts/slideLayout9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91928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Forecasting Across Multiple Retail Stores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39206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Shivangi Chaudhary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77476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Nexthikes IT Solutions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673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77966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93790" y="3451384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comprehensive store sales patterns and develop a robust prediction model that accurately forecasts future sales performance using historical retail data.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07067"/>
            <a:ext cx="556486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data-driven approach enables strategic decision-making, optimized inventory management, and improved resource allocation across multiple store locations.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9674" y="2806303"/>
            <a:ext cx="6151721" cy="26753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9674" y="5736788"/>
            <a:ext cx="69244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594479"/>
            <a:ext cx="5675590" cy="70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6642" y="1736169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56642" y="2072997"/>
            <a:ext cx="645044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756642" y="2241947"/>
            <a:ext cx="3229451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Loading &amp; Cleaning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6642" y="2726174"/>
            <a:ext cx="645044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Importing datasets and handling missing values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23190" y="1736169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3190" y="2072997"/>
            <a:ext cx="645056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9" name="Text 7"/>
          <p:cNvSpPr/>
          <p:nvPr/>
        </p:nvSpPr>
        <p:spPr>
          <a:xfrm>
            <a:off x="7423190" y="2241947"/>
            <a:ext cx="3368754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3190" y="2726174"/>
            <a:ext cx="6450568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patterns and trends in sales data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6642" y="3450193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56642" y="3787021"/>
            <a:ext cx="645044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3" name="Text 11"/>
          <p:cNvSpPr/>
          <p:nvPr/>
        </p:nvSpPr>
        <p:spPr>
          <a:xfrm>
            <a:off x="756642" y="3955971"/>
            <a:ext cx="2837736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6642" y="4440198"/>
            <a:ext cx="645044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Creating meaningful variables for prediction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23190" y="3450193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190" y="3787021"/>
            <a:ext cx="645056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423190" y="3955971"/>
            <a:ext cx="2837736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Building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3190" y="4440198"/>
            <a:ext cx="6450568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algorithms on historical patterns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6642" y="5164217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56642" y="5501045"/>
            <a:ext cx="6450449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56642" y="5669994"/>
            <a:ext cx="3168372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Predictions on Test Data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6642" y="6154222"/>
            <a:ext cx="6450449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Validating model performance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23190" y="5164217"/>
            <a:ext cx="216098" cy="270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06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23190" y="5501045"/>
            <a:ext cx="6450568" cy="3048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5" name="Text 23"/>
          <p:cNvSpPr/>
          <p:nvPr/>
        </p:nvSpPr>
        <p:spPr>
          <a:xfrm>
            <a:off x="7423190" y="5669994"/>
            <a:ext cx="2837736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 Insights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3190" y="6154222"/>
            <a:ext cx="6450568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Extracting actionable business recommendations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56642" y="7013258"/>
            <a:ext cx="13117116" cy="34528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56642" y="7290792"/>
            <a:ext cx="13117116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Used: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Python, Pandas, NumPy, Matplotlib, Scikit-learn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5404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279" y="3099316"/>
            <a:ext cx="10647759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Insights: Understanding Sales Patterns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11279" y="4070985"/>
            <a:ext cx="4267200" cy="3599974"/>
          </a:xfrm>
          <a:prstGeom prst="roundRect">
            <a:avLst>
              <a:gd name="adj" fmla="val 23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2020" y="4281726"/>
            <a:ext cx="330767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Distribution Analysis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22020" y="4737021"/>
            <a:ext cx="3845719" cy="162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data exhibits significant right skew, with most days showing moderate performance while a small number of days achieve exceptionally high sales volumes.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20" y="6484739"/>
            <a:ext cx="384571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pattern suggests opportunity for targeted promotional strategies during peak periods.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181600" y="4070985"/>
            <a:ext cx="4267200" cy="3599974"/>
          </a:xfrm>
          <a:prstGeom prst="roundRect">
            <a:avLst>
              <a:gd name="adj" fmla="val 23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92341" y="4281726"/>
            <a:ext cx="2667476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Monthly Sales Trends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392341" y="4737021"/>
            <a:ext cx="384571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monthly sales reveal seasonal patterns and cyclical trends throughout the year.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92341" y="5834420"/>
            <a:ext cx="384571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these fluctuations enables better inventory planning and staffing decisions aligned with demand.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651921" y="4070985"/>
            <a:ext cx="4267200" cy="3599974"/>
          </a:xfrm>
          <a:prstGeom prst="roundRect">
            <a:avLst>
              <a:gd name="adj" fmla="val 2371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62661" y="4281726"/>
            <a:ext cx="2928461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Store Type Performance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862661" y="4737021"/>
            <a:ext cx="384571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Comparative analysis shows certain store types consistently outperform others in sales generation.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862661" y="5834420"/>
            <a:ext cx="3845719" cy="97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insights inform strategic expansion decisions and store format optimization.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18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989" y="3104078"/>
            <a:ext cx="5078016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Correlation Analysis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76989" y="4203025"/>
            <a:ext cx="708957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vs Customers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76989" y="4686657"/>
            <a:ext cx="708957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positive correlation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76989" y="5063847"/>
            <a:ext cx="708957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customers → higher sales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76989" y="5547479"/>
            <a:ext cx="708957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Effect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76989" y="6031111"/>
            <a:ext cx="7089577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 days significantly increase sales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46150" y="4222313"/>
            <a:ext cx="3046809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Observations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8246150" y="4796433"/>
            <a:ext cx="571476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and Customers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demonstrate the strongest positive correlation, confirming foot traffic drives revenue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46150" y="5483185"/>
            <a:ext cx="571476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Promotional activities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show positive relationship with sales performance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46150" y="6169938"/>
            <a:ext cx="571476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numerical features exhibit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correlation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helping identify truly impactful variables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46150" y="6856690"/>
            <a:ext cx="571476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analysis streamlines feature selection for optimal model performance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217" y="465296"/>
            <a:ext cx="7951827" cy="55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 &amp; Model Selection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592217" y="1443395"/>
            <a:ext cx="2664976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Engineering</a:t>
            </a:r>
            <a:endParaRPr lang="en-US" sz="2050" dirty="0"/>
          </a:p>
        </p:txBody>
      </p:sp>
      <p:sp>
        <p:nvSpPr>
          <p:cNvPr id="4" name="Shape 2"/>
          <p:cNvSpPr/>
          <p:nvPr/>
        </p:nvSpPr>
        <p:spPr>
          <a:xfrm>
            <a:off x="592217" y="2056567"/>
            <a:ext cx="84534" cy="84534"/>
          </a:xfrm>
          <a:prstGeom prst="roundRect">
            <a:avLst>
              <a:gd name="adj" fmla="val 540847"/>
            </a:avLst>
          </a:prstGeom>
          <a:solidFill>
            <a:srgbClr val="007EBD"/>
          </a:solidFill>
          <a:ln/>
        </p:spPr>
      </p:sp>
      <p:sp>
        <p:nvSpPr>
          <p:cNvPr id="5" name="Text 3"/>
          <p:cNvSpPr/>
          <p:nvPr/>
        </p:nvSpPr>
        <p:spPr>
          <a:xfrm>
            <a:off x="845939" y="1966674"/>
            <a:ext cx="222075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Temporal Features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939" y="2413397"/>
            <a:ext cx="626292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 Year, Month, Day, and WeekOfYear to capture seasonality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2217" y="3112294"/>
            <a:ext cx="84534" cy="84534"/>
          </a:xfrm>
          <a:prstGeom prst="roundRect">
            <a:avLst>
              <a:gd name="adj" fmla="val 540847"/>
            </a:avLst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845939" y="3022402"/>
            <a:ext cx="222075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Behavioral Indicators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5939" y="3469124"/>
            <a:ext cx="626292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IsWeekend flag to distinguish shopping patterns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2217" y="4168021"/>
            <a:ext cx="84534" cy="84534"/>
          </a:xfrm>
          <a:prstGeom prst="roundRect">
            <a:avLst>
              <a:gd name="adj" fmla="val 540847"/>
            </a:avLst>
          </a:prstGeom>
          <a:solidFill>
            <a:srgbClr val="007EBD"/>
          </a:solidFill>
          <a:ln/>
        </p:spPr>
      </p:sp>
      <p:sp>
        <p:nvSpPr>
          <p:cNvPr id="11" name="Text 9"/>
          <p:cNvSpPr/>
          <p:nvPr/>
        </p:nvSpPr>
        <p:spPr>
          <a:xfrm>
            <a:off x="845939" y="4078129"/>
            <a:ext cx="222075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Enrichment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939" y="4524851"/>
            <a:ext cx="6262926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Merged store-specific details and filled missing values strategically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29155" y="1443395"/>
            <a:ext cx="2942034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Decision Tree Regressor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529155" y="1945600"/>
            <a:ext cx="6516648" cy="54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for its balance of performance and interpretability in retail forecasting applications.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29155" y="2677120"/>
            <a:ext cx="6516648" cy="1101447"/>
          </a:xfrm>
          <a:prstGeom prst="roundRect">
            <a:avLst>
              <a:gd name="adj" fmla="val 99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06295" y="2677120"/>
            <a:ext cx="91440" cy="1101447"/>
          </a:xfrm>
          <a:prstGeom prst="roundRect">
            <a:avLst>
              <a:gd name="adj" fmla="val 77719"/>
            </a:avLst>
          </a:prstGeom>
          <a:solidFill>
            <a:srgbClr val="007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789783" y="2869168"/>
            <a:ext cx="222075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Easy to Understand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89783" y="3315891"/>
            <a:ext cx="606397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decision paths stakeholders can interpret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29155" y="3947755"/>
            <a:ext cx="6516648" cy="1101447"/>
          </a:xfrm>
          <a:prstGeom prst="roundRect">
            <a:avLst>
              <a:gd name="adj" fmla="val 99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6295" y="3947755"/>
            <a:ext cx="91440" cy="1101447"/>
          </a:xfrm>
          <a:prstGeom prst="roundRect">
            <a:avLst>
              <a:gd name="adj" fmla="val 77719"/>
            </a:avLst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7789783" y="4139803"/>
            <a:ext cx="233969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Handles Non-Linearity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89783" y="4586526"/>
            <a:ext cx="606397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complex retail patterns effectively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29155" y="5218390"/>
            <a:ext cx="6516648" cy="1101447"/>
          </a:xfrm>
          <a:prstGeom prst="roundRect">
            <a:avLst>
              <a:gd name="adj" fmla="val 99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6295" y="5218390"/>
            <a:ext cx="91440" cy="1101447"/>
          </a:xfrm>
          <a:prstGeom prst="roundRect">
            <a:avLst>
              <a:gd name="adj" fmla="val 77719"/>
            </a:avLst>
          </a:prstGeom>
          <a:solidFill>
            <a:srgbClr val="007EBD"/>
          </a:solidFill>
          <a:ln/>
        </p:spPr>
      </p:sp>
      <p:sp>
        <p:nvSpPr>
          <p:cNvPr id="25" name="Text 23"/>
          <p:cNvSpPr/>
          <p:nvPr/>
        </p:nvSpPr>
        <p:spPr>
          <a:xfrm>
            <a:off x="7789783" y="5410438"/>
            <a:ext cx="2377440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Minimal Preprocessing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789783" y="5857161"/>
            <a:ext cx="606397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Reduces data preparation complexity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29155" y="6489025"/>
            <a:ext cx="6516648" cy="1101447"/>
          </a:xfrm>
          <a:prstGeom prst="roundRect">
            <a:avLst>
              <a:gd name="adj" fmla="val 996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B2D4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06295" y="6489025"/>
            <a:ext cx="91440" cy="1101447"/>
          </a:xfrm>
          <a:prstGeom prst="roundRect">
            <a:avLst>
              <a:gd name="adj" fmla="val 77719"/>
            </a:avLst>
          </a:prstGeom>
          <a:solidFill>
            <a:srgbClr val="007EBD"/>
          </a:solidFill>
          <a:ln/>
        </p:spPr>
      </p:sp>
      <p:sp>
        <p:nvSpPr>
          <p:cNvPr id="29" name="Text 27"/>
          <p:cNvSpPr/>
          <p:nvPr/>
        </p:nvSpPr>
        <p:spPr>
          <a:xfrm>
            <a:off x="7789783" y="6681073"/>
            <a:ext cx="2220754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Fast Training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789783" y="7127796"/>
            <a:ext cx="6063972" cy="27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rapid iteration and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9304" y="182404"/>
            <a:ext cx="4811792" cy="14595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0778" y="2226826"/>
            <a:ext cx="3831193" cy="478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Predictions &amp; Results</a:t>
            </a:r>
            <a:endParaRPr lang="en-US" sz="3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78" y="2924532"/>
            <a:ext cx="729734" cy="8757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86364" y="3070384"/>
            <a:ext cx="191559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Training Process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386364" y="3397329"/>
            <a:ext cx="1273325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key features: Store, DayOfWeek, Promo, Month, Year, and Customers for optimal prediction accuracy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78" y="3800237"/>
            <a:ext cx="729734" cy="8757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86364" y="3946088"/>
            <a:ext cx="191559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Validation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386364" y="4273034"/>
            <a:ext cx="1273325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exclusively on open-store sales data with 20% validation split to ensure robust performance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778" y="4675942"/>
            <a:ext cx="729734" cy="8757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86364" y="4821793"/>
            <a:ext cx="1915597" cy="239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 Outcome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386364" y="5148739"/>
            <a:ext cx="1273325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Generated comprehensive predictions for all test scenarios, exported to </a:t>
            </a:r>
            <a:pPr algn="l"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simple_predictions.csv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510778" y="5788755"/>
            <a:ext cx="13608844" cy="2583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4" name="Shape 8"/>
          <p:cNvSpPr/>
          <p:nvPr/>
        </p:nvSpPr>
        <p:spPr>
          <a:xfrm>
            <a:off x="510778" y="6142911"/>
            <a:ext cx="6626423" cy="1286589"/>
          </a:xfrm>
          <a:prstGeom prst="roundRect">
            <a:avLst>
              <a:gd name="adj" fmla="val 4765"/>
            </a:avLst>
          </a:prstGeom>
          <a:solidFill>
            <a:srgbClr val="B3E5FF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630" y="6329839"/>
            <a:ext cx="287298" cy="2297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89779" y="6325195"/>
            <a:ext cx="2298740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089779" y="6758345"/>
            <a:ext cx="5901571" cy="466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Absolute Error (MAE) demonstrates strong predictive accuracy, validating the model's capability to forecast daily store sales with reliable precision.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7500818" y="6142911"/>
            <a:ext cx="6626423" cy="1520071"/>
          </a:xfrm>
          <a:prstGeom prst="roundRect">
            <a:avLst>
              <a:gd name="adj" fmla="val 4033"/>
            </a:avLst>
          </a:prstGeom>
          <a:solidFill>
            <a:srgbClr val="B3E5F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670" y="6329839"/>
            <a:ext cx="287298" cy="22979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79819" y="6325195"/>
            <a:ext cx="2298740" cy="287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8079819" y="6758345"/>
            <a:ext cx="5901571" cy="700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working model empowers retail decision-makers with data-driven sales forecasts, enabling proactive inventory management and strategic planning across all store locations.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927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Reference-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9871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052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 Docs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232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Decision Tree (CART) - Machine Learning Fun and Easy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413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https://www.youtube.com/watch?v=bK7I79BVTG0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5937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Plot types — Matplotlib 3.10.7 documentation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774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train_test_split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893701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5204936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Contact Information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93790" y="587835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Shivangi Chaudhary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44532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Nexthikes IT Solutions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1" y="5204936"/>
            <a:ext cx="3572470" cy="446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599521" y="5878354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welcome your feedback and are ready to discuss implementation strategies for your retail forecasting needs.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2025-11-17T04:20:58Z</dcterms:created>
  <dcterms:modified xsi:type="dcterms:W3CDTF">2025-11-17T04:20:58Z</dcterms:modified>
</cp:coreProperties>
</file>